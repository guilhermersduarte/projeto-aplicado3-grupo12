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0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820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D5C9E"/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548640"/>
            <a:ext cx="1920240" cy="1920240"/>
          </a:xfrm>
          <a:prstGeom prst="ellipse">
            <a:avLst/>
          </a:prstGeom>
          <a:solidFill>
            <a:srgbClr val="0D5C9E">
              <a:alpha val="40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0" y="68580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🎓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Recomendação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Cursos Educacionais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Personalizando o aprendizado com Inteligência Artificial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486400" cy="36576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Aplicado III  |  Ciência de Dados  |  </a:t>
            </a: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Presbiteriana Mackenzie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D5C9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📓 3 Notebooks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8404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5C9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20240" y="3840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1.45M reviews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3840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D5C9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3840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ML + 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5C9E">
              <a:alpha val="60000"/>
            </a:srgbClr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github.com/guilhermersduarte/Projeto-Aplicado3-Grupo12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informação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milhares de cursos disponíveis nos MOOCs, estudantes têm dificuldade de encontrar o conteúdo certo para seu perfil.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+600 cursos no dataset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disponíveis no Coursera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filtro inteligente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nível, interesse e objetivos profissionais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97680" cy="3474720"/>
          </a:xfrm>
          <a:prstGeom prst="rect">
            <a:avLst/>
          </a:prstGeom>
          <a:solidFill>
            <a:srgbClr val="F0FFF4"/>
          </a:solidFill>
          <a:ln w="12700">
            <a:solidFill>
              <a:srgbClr val="A3D9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A SOLUÇÃO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híbrido de recomendação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múltiplas abordagens de ML para recomendar cursos adequados ao perfil do usuário.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Colaborativa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SVD, KNN — padrões entre usuários similares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 por Conteúdo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Embeddings — características dos cursos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— NCF, embeddings neurais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Fonte: Kaggle — Course Reviews on Coursera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5C9E"/>
                </a:solidFill>
              </a:rPr>
              <a:t>1,45M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Avaliações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Reais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600+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Cursos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Coursera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287K+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Usuários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Únicos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3716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505K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Após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Limpeza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Estrutura dos dados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 •  reviewers  •  rating (1–5)  •  date_reviews  •  reviews (texto livre)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 •  name  •  institution  •  course_url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 — Análise Exploratória de Dados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📊  Qualidade dos Dados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ausentes, duplicatas por (user × curso), limpeza de nomes e conversão de datas.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⭐  Distribuição de Notas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dos usuários têm média ≥ 4. Alta assimetria negativa — maioria das notas é 4 ou 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🏛️  Catálogo de Cursos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36208" y="13258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instituições por volume. Nuvem de palavras dos títulos. Análise de popularidade × qualidade.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🕐  Análise Temporal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avaliações durante a pandemia (2020). Cursos mais populares por período histórico.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0128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👥  Comportamento dos Usuários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positivo de avaliação. Usuários ativos por 1-2 anos em média. Outliers detectados via σ e percentis.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9E"/>
                </a:solidFill>
              </a:rPr>
              <a:t>💬  Texto das Avaliações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por nota, nuvens de palavras, bigramas mais frequentes. 20% de reviews &lt; 5 palavras.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72744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C2410C"/>
                </a:solidFill>
              </a:rPr>
              <a:t>Importante</a:t>
            </a:r>
            <a:r>
              <a:rPr lang="en-US" sz="1000" b="1" dirty="0">
                <a:solidFill>
                  <a:srgbClr val="C2410C"/>
                </a:solidFill>
              </a:rPr>
              <a:t>: </a:t>
            </a:r>
            <a:r>
              <a:rPr lang="en-US" sz="1000" b="1" dirty="0" err="1">
                <a:solidFill>
                  <a:srgbClr val="C2410C"/>
                </a:solidFill>
              </a:rPr>
              <a:t>Matriz</a:t>
            </a:r>
            <a:r>
              <a:rPr lang="en-US" sz="1000" b="1" dirty="0">
                <a:solidFill>
                  <a:srgbClr val="C2410C"/>
                </a:solidFill>
              </a:rPr>
              <a:t> extremamente esparsa (&lt;&lt;1% preenchida) → obrigatório combinar filtragem colaborativa com conteúdo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Pipeline de Dados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36576"/>
          </a:xfrm>
          <a:prstGeom prst="rect">
            <a:avLst/>
          </a:prstGeom>
          <a:solidFill>
            <a:srgbClr val="0D5C9E"/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" y="1005840"/>
            <a:ext cx="384048" cy="384048"/>
          </a:xfrm>
          <a:prstGeom prst="ellipse">
            <a:avLst/>
          </a:prstGeom>
          <a:solidFill>
            <a:srgbClr val="0D5C9E"/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024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9E"/>
                </a:solidFill>
              </a:rPr>
              <a:t>Sanitização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de datas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"By " em nomes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de texto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783080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4408" y="10058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1024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Deduplicação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1.45M → 505K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contas "deleted"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último review/par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783080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91440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0760" y="91440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0488" y="10058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0488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1024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Filtragem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4630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no quantil 99.9%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‘</a:t>
            </a:r>
            <a:r>
              <a:rPr lang="en-US" sz="100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Silva”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percentil 99.9 = 33 reviews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2743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328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Merge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429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reviews + catálogo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órfãos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USS/ISS de esparsidade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3749040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5468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54680" y="288036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64408" y="297180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64408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Matriz CSR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3429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user × curso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esparso scipy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Mean-centering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749040"/>
            <a:ext cx="914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076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2880360"/>
            <a:ext cx="274320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90488" y="2971800"/>
            <a:ext cx="384048" cy="38404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90488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</a:rPr>
              <a:t>Split Temporal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429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Treino: &lt; 2020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≥ 2020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pico pandêmico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663440"/>
            <a:ext cx="868680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Saida: triplas (user, curso, rating) em Parquet  →  prontas para Surprise / PyTorch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— Modelagem: KNN &amp; SVD (Resultados Preliminares)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43200" cy="283464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743200" cy="475488"/>
          </a:xfrm>
          <a:prstGeom prst="rect">
            <a:avLst/>
          </a:prstGeom>
          <a:solidFill>
            <a:srgbClr val="0D5C9E"/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KNN Item-Based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Similaridade: Cosseno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40 vizinhos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user_based = False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KNNWithMeans (Surprise)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D5C9E">
              <a:alpha val="20000"/>
            </a:srgbClr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C9E"/>
                </a:solidFill>
              </a:rPr>
              <a:t>Implementado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743200" cy="283464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868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KNN User-Based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Similaridade: Cosseno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40 vizinhos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157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 por RAM (50% sample)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375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Implementado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868680"/>
            <a:ext cx="2743200" cy="2834640"/>
          </a:xfrm>
          <a:prstGeom prst="rect">
            <a:avLst/>
          </a:prstGeom>
          <a:solidFill>
            <a:srgbClr val="EAF4FB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8686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SVD (Baseline)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n_factors = 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810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n_epochs = 20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157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5054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rápida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33375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9224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Baseline 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7947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9E"/>
                </a:solidFill>
              </a:rPr>
              <a:t>Avaliação &amp; Split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1148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 MAE (menor = melhor)     </a:t>
            </a: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 Split temporal: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&lt; 2020  /  Teste ≥ 2020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Testset: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usuários e cursos presentes no treino (avaliação pura de CF)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483717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</a:rPr>
              <a:t>KNN User-Based exige 150+ GB RAM com base completa → estratégia de sampling 50% adotada para validação preliminar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Técnico — Próximos Passos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0116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Concluído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Base + AED +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completa (9 seções)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limpeza (1.45M → 505K)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2020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374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item/user + SVD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8686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23160" y="86868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868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Em andamento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Otimização dos Modelos CF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de K (120–160 conforme literatura)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Cosseno ajustado + weighted sum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dimensionalidade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3374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memória para user-based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8686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868680"/>
            <a:ext cx="2011680" cy="457200"/>
          </a:xfrm>
          <a:prstGeom prst="rect">
            <a:avLst/>
          </a:prstGeom>
          <a:solidFill>
            <a:srgbClr val="0D5C9E"/>
          </a:solidFill>
          <a:ln w="12700">
            <a:solidFill>
              <a:srgbClr val="0D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868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Próximo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Filtragem por Conteúdo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nos títulos e descrições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 (SBERT)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 cosseno entre cursos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374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 com FAISS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12280" y="868680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12280" y="86868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12280" y="868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1228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Planejado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Deep Learning + Híbrido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(Neural Collaborative Filtering)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2404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PyTorch user × item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03720" y="2889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Handler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03720" y="33741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híbrido final +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7640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Meta: Protótipo de sistema híbrido com API de recomendação personalizada por perfil de usuário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Técnico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3291840"/>
          </a:xfrm>
          <a:prstGeom prst="rect">
            <a:avLst/>
          </a:prstGeom>
          <a:solidFill>
            <a:srgbClr val="0D5C9E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O que temos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1,45M avaliações reais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AED completa (9 dimensões)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robusto de limpeza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Split temporal validado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3291840"/>
          </a:xfrm>
          <a:prstGeom prst="rect">
            <a:avLst/>
          </a:prstGeom>
          <a:solidFill>
            <a:srgbClr val="0D5C9E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O que construímos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KNN Item-Based (cosine, k=40)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KNN User-Based (cosine, k=40)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3108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SVD baseline (50 fatores)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3611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Métricas: RMSE e MAE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560320" cy="3291840"/>
          </a:xfrm>
          <a:prstGeom prst="rect">
            <a:avLst/>
          </a:prstGeom>
          <a:solidFill>
            <a:srgbClr val="0D5C9E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350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O que virá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103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Tuning e otimização KNN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2606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TF-IDF + Embeddings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31089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NCF com PyTorch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36118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Cold start + sistema híbrido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D5C9E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581144"/>
            <a:ext cx="8412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Stack: Python  •  Pandas  •  Scipy  •  Scikit-learn  •  Surprise  •  PyTorch  •  FAISS  •  Parquet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903</Words>
  <Application>Microsoft Office PowerPoint</Application>
  <PresentationFormat>On-screen Show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Recomendação de Cursos Educacionais</dc:title>
  <dc:subject>PptxGenJS Presentation</dc:subject>
  <dc:creator>PptxGenJS</dc:creator>
  <cp:lastModifiedBy>Ricardo Amaral</cp:lastModifiedBy>
  <cp:revision>5</cp:revision>
  <dcterms:created xsi:type="dcterms:W3CDTF">2026-03-18T01:29:45Z</dcterms:created>
  <dcterms:modified xsi:type="dcterms:W3CDTF">2026-03-23T15:50:45Z</dcterms:modified>
</cp:coreProperties>
</file>